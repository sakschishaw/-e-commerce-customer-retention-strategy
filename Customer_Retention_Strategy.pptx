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Repeat Rate %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Jan 23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 24</c:v>
                  </c:pt>
                  <c:pt idx="13">
                    <c:v>Feb</c:v>
                  </c:pt>
                  <c:pt idx="14">
                    <c:v>Mar</c:v>
                  </c:pt>
                  <c:pt idx="15">
                    <c:v>Apr</c:v>
                  </c:pt>
                  <c:pt idx="16">
                    <c:v>May</c:v>
                  </c:pt>
                  <c:pt idx="17">
                    <c:v>Jun</c:v>
                  </c:pt>
                  <c:pt idx="18">
                    <c:v>Jul</c:v>
                  </c:pt>
                  <c:pt idx="19">
                    <c:v>Aug</c:v>
                  </c:pt>
                  <c:pt idx="20">
                    <c:v>Sep</c:v>
                  </c:pt>
                  <c:pt idx="21">
                    <c:v>Oct</c:v>
                  </c:pt>
                  <c:pt idx="22">
                    <c:v>Nov</c:v>
                  </c:pt>
                  <c:pt idx="23">
                    <c:v>Dec 24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22.1</c:v>
                </c:pt>
                <c:pt idx="1">
                  <c:v>21.4</c:v>
                </c:pt>
                <c:pt idx="2">
                  <c:v>20.8</c:v>
                </c:pt>
                <c:pt idx="3">
                  <c:v>19.5</c:v>
                </c:pt>
                <c:pt idx="4">
                  <c:v>18.7</c:v>
                </c:pt>
                <c:pt idx="5">
                  <c:v>18.2</c:v>
                </c:pt>
                <c:pt idx="6">
                  <c:v>17.5</c:v>
                </c:pt>
                <c:pt idx="7">
                  <c:v>16.9</c:v>
                </c:pt>
                <c:pt idx="8">
                  <c:v>16.2</c:v>
                </c:pt>
                <c:pt idx="9">
                  <c:v>15.8</c:v>
                </c:pt>
                <c:pt idx="10">
                  <c:v>15.1</c:v>
                </c:pt>
                <c:pt idx="11">
                  <c:v>14.7</c:v>
                </c:pt>
                <c:pt idx="12">
                  <c:v>14.2</c:v>
                </c:pt>
                <c:pt idx="13">
                  <c:v>14.5</c:v>
                </c:pt>
                <c:pt idx="14">
                  <c:v>14.9</c:v>
                </c:pt>
                <c:pt idx="15">
                  <c:v>15.2</c:v>
                </c:pt>
                <c:pt idx="16">
                  <c:v>15.6</c:v>
                </c:pt>
                <c:pt idx="17">
                  <c:v>16</c:v>
                </c:pt>
                <c:pt idx="18">
                  <c:v>16.3</c:v>
                </c:pt>
                <c:pt idx="19">
                  <c:v>16.7</c:v>
                </c:pt>
                <c:pt idx="20">
                  <c:v>17.1</c:v>
                </c:pt>
                <c:pt idx="21">
                  <c:v>17.5</c:v>
                </c:pt>
                <c:pt idx="22">
                  <c:v>17.9</c:v>
                </c:pt>
                <c:pt idx="23">
                  <c:v>18.3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1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Retention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 Dashboard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11480" y="2971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Customer Retention Strategy · 2023–2024 Analysis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5194A"/>
          </a:solidFill>
          <a:ln w="12700">
            <a:solidFill>
              <a:srgbClr val="1519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736 Customers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9,694 Transactions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09160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Cohorts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4709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 – Dec 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06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260604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22%→14%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 over 12 months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606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914400"/>
            <a:ext cx="260604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0515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61%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337560" y="18745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made only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purchase &amp; left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6060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914400"/>
            <a:ext cx="260604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5156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£131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217920" y="18745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CLV — far below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benchmark £280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8412480" cy="1005840"/>
          </a:xfrm>
          <a:prstGeom prst="rect">
            <a:avLst/>
          </a:prstGeom>
          <a:solidFill>
            <a:srgbClr val="FEF3F2"/>
          </a:solidFill>
          <a:ln w="12700">
            <a:solidFill>
              <a:srgbClr val="FECD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017520"/>
            <a:ext cx="73152" cy="1005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090672"/>
            <a:ext cx="8092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</a:t>
            </a:r>
            <a:pPr algn="l" indent="0" marL="0">
              <a:buNone/>
            </a:pPr>
            <a:r>
              <a:rPr lang="en-US" sz="13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retention directly erodes monthly recurring revenue and increases cost of acquisition. If left unaddressed, the repeat purchase rate is projected to fall below 10% within 6 months, costing an estimated £40,000+ in lost revenue annually.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Intelligence  ·  Slide 2 of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Analysis — 3 Churn Drivers Identified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188720"/>
          </a:xfrm>
          <a:prstGeom prst="rect">
            <a:avLst/>
          </a:prstGeom>
          <a:solidFill>
            <a:srgbClr val="FEF3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73152" cy="1188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457200" cy="457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6984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960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Single-Purchase Customers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1307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449 customers (61%)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0" y="9601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exactly one purchase and never returned. No post-purchase engagement or incentive was triggered to bring them back.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8412480" cy="118872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240280"/>
            <a:ext cx="73152" cy="1188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423160"/>
            <a:ext cx="45720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4144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3317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Order Value Segment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2679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187 customers (25%)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23317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below £10. Low transaction value means low switching cost — easy for customers to shop elsewhere.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841248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611880"/>
            <a:ext cx="73152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794760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81304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7033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Inactivity Gaps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3000" y="40507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412 customers (56%)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03520" y="37033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180+ days inactive with no automated win-back sequence triggered. Silent churn — customers left without any re-engagement attempt.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Intelligence  ·  Slide 3 of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Retention Analysis — Monthly Repeat Purchase Rate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960120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0" y="960120"/>
            <a:ext cx="64008" cy="658368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26480" y="99669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DC6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22.1%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126480" y="129844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retention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98080" y="99669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2023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43600" y="1783080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0" y="1783080"/>
            <a:ext cx="64008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18196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14.2%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126480" y="21214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point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98080" y="1819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2024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43600" y="2606040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0" y="2606040"/>
            <a:ext cx="64008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6480" y="264261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A2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18.3%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126480" y="29443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recovery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98080" y="26426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2024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943600" y="3429000"/>
            <a:ext cx="28346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943600" y="3429000"/>
            <a:ext cx="6400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126480" y="34655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−7.9pp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6126480" y="376732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magnitude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498080" y="34655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12 months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Intelligence  ·  Slide 4 of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974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2697480" cy="73152"/>
          </a:xfrm>
          <a:prstGeom prst="rect">
            <a:avLst/>
          </a:prstGeom>
          <a:solidFill>
            <a:srgbClr val="1D6A96"/>
          </a:solidFill>
          <a:ln w="12700">
            <a:solidFill>
              <a:srgbClr val="1D6A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84048" cy="384048"/>
          </a:xfrm>
          <a:prstGeom prst="rect">
            <a:avLst/>
          </a:prstGeom>
          <a:solidFill>
            <a:srgbClr val="1D6A96"/>
          </a:solidFill>
          <a:ln w="12700">
            <a:solidFill>
              <a:srgbClr val="1D6A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784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Programme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 every £1 spent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points in Month 2 post-acquisition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3-tier: Bronze → Silver → Gold by CLV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337560"/>
            <a:ext cx="1371600" cy="347472"/>
          </a:xfrm>
          <a:prstGeom prst="rect">
            <a:avLst/>
          </a:prstGeom>
          <a:solidFill>
            <a:srgbClr val="1D6A96"/>
          </a:solidFill>
          <a:ln w="12700">
            <a:solidFill>
              <a:srgbClr val="1D6A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3558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retention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7490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30 days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822960"/>
            <a:ext cx="26974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822960"/>
            <a:ext cx="269748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960120"/>
            <a:ext cx="384048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9784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91840" y="14630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Re-engagement Email Campaign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291840" y="201168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30: "We miss you" + 10% off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60: Personalised product picks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90: Last chance + free shipping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3337560"/>
            <a:ext cx="1371600" cy="34747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33558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+8% win-back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37490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14 days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0760" y="822960"/>
            <a:ext cx="26974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822960"/>
            <a:ext cx="26974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960120"/>
            <a:ext cx="384048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97840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72200" y="14630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Order Value Nudge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172200" y="2011680"/>
            <a:ext cx="2514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shipping on orders &gt; £15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£X more for free delivery" at checkout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offers for low-AOV segment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3337560"/>
            <a:ext cx="137160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33558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AOV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72200" y="37490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21 days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Intelligence  ·  Slide 5 of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Expected Impact in 90 Days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effect of all 3 recommendations deployed simultaneously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8321040" cy="365760"/>
          </a:xfrm>
          <a:prstGeom prst="rect">
            <a:avLst/>
          </a:prstGeom>
          <a:solidFill>
            <a:srgbClr val="15194A"/>
          </a:solidFill>
          <a:ln w="12700">
            <a:solidFill>
              <a:srgbClr val="1519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1371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0" y="1371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90 Days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0" y="1371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1755648"/>
            <a:ext cx="8321040" cy="621792"/>
          </a:xfrm>
          <a:prstGeom prst="rect">
            <a:avLst/>
          </a:prstGeom>
          <a:solidFill>
            <a:srgbClr val="1A2050"/>
          </a:solidFill>
          <a:ln w="12700">
            <a:solidFill>
              <a:srgbClr val="1A2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8366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Purchase Rate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0" y="18836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8836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0" y="18653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11480" y="2468880"/>
            <a:ext cx="8321040" cy="621792"/>
          </a:xfrm>
          <a:prstGeom prst="rect">
            <a:avLst/>
          </a:prstGeom>
          <a:solidFill>
            <a:srgbClr val="151940"/>
          </a:solidFill>
          <a:ln w="12700">
            <a:solidFill>
              <a:srgbClr val="1519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9689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Active Customers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25968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0" y="25968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0" y="25786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+45%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" y="3182112"/>
            <a:ext cx="8321040" cy="621792"/>
          </a:xfrm>
          <a:prstGeom prst="rect">
            <a:avLst/>
          </a:prstGeom>
          <a:solidFill>
            <a:srgbClr val="1A2050"/>
          </a:solidFill>
          <a:ln w="12700">
            <a:solidFill>
              <a:srgbClr val="1A2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101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0" y="33101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£131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33101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£147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0" y="32918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11480" y="3895344"/>
            <a:ext cx="8321040" cy="621792"/>
          </a:xfrm>
          <a:prstGeom prst="rect">
            <a:avLst/>
          </a:prstGeom>
          <a:solidFill>
            <a:srgbClr val="151940"/>
          </a:solidFill>
          <a:ln w="12700">
            <a:solidFill>
              <a:srgbClr val="1519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0233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Revenue Uplift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0" y="4023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0" y="4023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+£40K/yr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0" y="40050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11480" y="4617720"/>
            <a:ext cx="8321040" cy="41148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6634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Present to stakeholders → Approve loyalty programme budget → Begin email automation setup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Retention Intelligence</dc:title>
  <dc:subject>PptxGenJS Presentation</dc:subject>
  <dc:creator>Data Analytics Project</dc:creator>
  <cp:lastModifiedBy>Data Analytics Project</cp:lastModifiedBy>
  <cp:revision>1</cp:revision>
  <dcterms:created xsi:type="dcterms:W3CDTF">2026-06-03T05:42:52Z</dcterms:created>
  <dcterms:modified xsi:type="dcterms:W3CDTF">2026-06-03T05:42:52Z</dcterms:modified>
</cp:coreProperties>
</file>